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0" r:id="rId9"/>
    <p:sldId id="262" r:id="rId10"/>
    <p:sldId id="264" r:id="rId11"/>
    <p:sldId id="277"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vyasprit962@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mailto:EFIBM26B2614180115@edunetmail.com" TargetMode="External"/><Relationship Id="rId4" Type="http://schemas.openxmlformats.org/officeDocument/2006/relationships/hyperlink" Target="mailto:Prit.vyas.foict@monarkuni.ac.i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ritvyas1510/Smart-Study-Generator-Agent.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96778866"/>
              </p:ext>
            </p:extLst>
          </p:nvPr>
        </p:nvGraphicFramePr>
        <p:xfrm>
          <a:off x="1299257" y="2600315"/>
          <a:ext cx="10115995" cy="2167128"/>
        </p:xfrm>
        <a:graphic>
          <a:graphicData uri="http://schemas.openxmlformats.org/drawingml/2006/table">
            <a:tbl>
              <a:tblPr>
                <a:noFill/>
                <a:tableStyleId>{0AAD8F4D-43EB-41E5-8A38-28AB6DFB1B60}</a:tableStyleId>
              </a:tblPr>
              <a:tblGrid>
                <a:gridCol w="2223332">
                  <a:extLst>
                    <a:ext uri="{9D8B030D-6E8A-4147-A177-3AD203B41FA5}">
                      <a16:colId xmlns:a16="http://schemas.microsoft.com/office/drawing/2014/main" val="20000"/>
                    </a:ext>
                  </a:extLst>
                </a:gridCol>
                <a:gridCol w="2630888">
                  <a:extLst>
                    <a:ext uri="{9D8B030D-6E8A-4147-A177-3AD203B41FA5}">
                      <a16:colId xmlns:a16="http://schemas.microsoft.com/office/drawing/2014/main" val="20002"/>
                    </a:ext>
                  </a:extLst>
                </a:gridCol>
                <a:gridCol w="3740773">
                  <a:extLst>
                    <a:ext uri="{9D8B030D-6E8A-4147-A177-3AD203B41FA5}">
                      <a16:colId xmlns:a16="http://schemas.microsoft.com/office/drawing/2014/main" val="20003"/>
                    </a:ext>
                  </a:extLst>
                </a:gridCol>
                <a:gridCol w="1521002">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sz="2400" dirty="0"/>
                        <a:t>Prit Vyas</a:t>
                      </a:r>
                      <a:endParaRPr sz="24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hlinkClick r:id="rId3"/>
                        </a:rPr>
                        <a:t>vyasprit962@gmail.com</a:t>
                      </a:r>
                      <a:endParaRPr lang="en-IN" dirty="0"/>
                    </a:p>
                    <a:p>
                      <a:pPr marL="0" marR="0" lvl="0" indent="0" algn="ctr" rtl="0">
                        <a:spcBef>
                          <a:spcPts val="0"/>
                        </a:spcBef>
                        <a:spcAft>
                          <a:spcPts val="0"/>
                        </a:spcAft>
                        <a:buNone/>
                      </a:pPr>
                      <a:r>
                        <a:rPr lang="en-IN" dirty="0">
                          <a:hlinkClick r:id="rId4"/>
                        </a:rPr>
                        <a:t>Prit.vyas.foict@monarkuni.ac.in</a:t>
                      </a:r>
                      <a:endParaRPr lang="en-IN" dirty="0"/>
                    </a:p>
                    <a:p>
                      <a:pPr marL="0" marR="0" lvl="0" indent="0" algn="ctr" rtl="0">
                        <a:spcBef>
                          <a:spcPts val="0"/>
                        </a:spcBef>
                        <a:spcAft>
                          <a:spcPts val="0"/>
                        </a:spcAft>
                        <a:buNone/>
                      </a:pPr>
                      <a:r>
                        <a:rPr lang="en-IN" dirty="0">
                          <a:hlinkClick r:id="rId5"/>
                        </a:rPr>
                        <a:t>EFIBM26B2614180115@edunetmail.com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dirty="0"/>
                        <a:t>9265068824</a:t>
                      </a:r>
                      <a:br>
                        <a:rPr lang="en-IN" sz="1800" dirty="0"/>
                      </a:br>
                      <a:r>
                        <a:rPr lang="en-IN" sz="1800" dirty="0"/>
                        <a:t>9909264531</a:t>
                      </a:r>
                      <a:endParaRPr sz="18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Smart Study Generator Agent </a:t>
            </a:r>
            <a:endParaRPr lang="en-IN" sz="2400" b="1" dirty="0">
              <a:highlight>
                <a:srgbClr val="FFFF00"/>
              </a:highlight>
            </a:endParaRPr>
          </a:p>
        </p:txBody>
      </p:sp>
      <p:pic>
        <p:nvPicPr>
          <p:cNvPr id="5" name="Picture 4">
            <a:extLst>
              <a:ext uri="{FF2B5EF4-FFF2-40B4-BE49-F238E27FC236}">
                <a16:creationId xmlns:a16="http://schemas.microsoft.com/office/drawing/2014/main" id="{4D1D8010-B93F-2329-5A3E-6C9F9627CC9A}"/>
              </a:ext>
            </a:extLst>
          </p:cNvPr>
          <p:cNvPicPr>
            <a:picLocks noChangeAspect="1"/>
          </p:cNvPicPr>
          <p:nvPr/>
        </p:nvPicPr>
        <p:blipFill>
          <a:blip r:embed="rId6"/>
          <a:stretch>
            <a:fillRect/>
          </a:stretch>
        </p:blipFill>
        <p:spPr>
          <a:xfrm>
            <a:off x="4315286" y="3682708"/>
            <a:ext cx="700425" cy="9418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115311"/>
          </a:xfrm>
          <a:prstGeom prst="rect">
            <a:avLst/>
          </a:prstGeom>
          <a:noFill/>
        </p:spPr>
        <p:txBody>
          <a:bodyPr wrap="square" rtlCol="0">
            <a:spAutoFit/>
          </a:bodyPr>
          <a:lstStyle/>
          <a:p>
            <a:pPr algn="just" fontAlgn="base"/>
            <a:r>
              <a:rPr lang="en-US" b="1" dirty="0"/>
              <a:t>Problem Statement : Smart Study Generator Agent </a:t>
            </a:r>
            <a:endParaRPr lang="en-US" dirty="0"/>
          </a:p>
          <a:p>
            <a:pPr algn="just" fontAlgn="base"/>
            <a:endParaRPr lang="en-US" b="1" dirty="0"/>
          </a:p>
          <a:p>
            <a:pPr algn="just" fontAlgn="base"/>
            <a:r>
              <a:rPr lang="en-US" b="1" dirty="0"/>
              <a:t>The Challenge</a:t>
            </a:r>
            <a:r>
              <a:rPr lang="en-US" dirty="0"/>
              <a:t> </a:t>
            </a:r>
          </a:p>
          <a:p>
            <a:pPr algn="just" fontAlgn="base"/>
            <a:r>
              <a:rPr lang="en-US"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 . </a:t>
            </a:r>
          </a:p>
          <a:p>
            <a:pPr algn="just" fontAlgn="base"/>
            <a:endParaRPr lang="en-US" dirty="0"/>
          </a:p>
          <a:p>
            <a:pPr algn="just" fontAlgn="base"/>
            <a:r>
              <a:rPr lang="en-US" b="1" dirty="0"/>
              <a:t>The Objective</a:t>
            </a:r>
            <a:r>
              <a:rPr lang="en-US" dirty="0"/>
              <a:t> </a:t>
            </a:r>
          </a:p>
          <a:p>
            <a:pPr algn="just" fontAlgn="base">
              <a:lnSpc>
                <a:spcPct val="150000"/>
              </a:lnSpc>
            </a:pPr>
            <a:r>
              <a:rPr lang="en-US" dirty="0"/>
              <a:t>Build an agentic AI-powered Smart Study Generator that personalizes and streamlines learning for students. The solution should:</a:t>
            </a:r>
          </a:p>
          <a:p>
            <a:pPr marL="342900" indent="-342900" algn="just" fontAlgn="base">
              <a:lnSpc>
                <a:spcPct val="150000"/>
              </a:lnSpc>
              <a:buAutoNum type="arabicPeriod"/>
            </a:pPr>
            <a:r>
              <a:rPr lang="en-US" b="1" dirty="0"/>
              <a:t>Fuse Learning Resources: </a:t>
            </a:r>
            <a:r>
              <a:rPr lang="en-US" dirty="0"/>
              <a:t>Aggregate content from class notes, textbooks, research articles, and online tutorials into structured, easy-to-digest study material. </a:t>
            </a:r>
          </a:p>
          <a:p>
            <a:pPr marL="342900" indent="-342900" algn="just" fontAlgn="base">
              <a:lnSpc>
                <a:spcPct val="150000"/>
              </a:lnSpc>
              <a:buAutoNum type="arabicPeriod"/>
            </a:pPr>
            <a:r>
              <a:rPr lang="en-US" b="1" dirty="0"/>
              <a:t>Enable Multimodal Input:</a:t>
            </a:r>
            <a:r>
              <a:rPr lang="en-US" dirty="0"/>
              <a:t> Allow students to upload notes, voice queries, or images (e.g., textbook pages), and generate concise summaries, flashcards, or concept maps. </a:t>
            </a:r>
          </a:p>
          <a:p>
            <a:pPr marL="342900" indent="-342900" algn="just" fontAlgn="base">
              <a:lnSpc>
                <a:spcPct val="150000"/>
              </a:lnSpc>
              <a:buAutoNum type="arabicPeriod"/>
            </a:pPr>
            <a:r>
              <a:rPr lang="en-US" b="1" dirty="0"/>
              <a:t>Create a Predictive &amp; Agentic Layer: </a:t>
            </a:r>
            <a:r>
              <a:rPr lang="en-US" dirty="0"/>
              <a:t>Recommend personalized study plans, highlight important topics based on syllabus or past exams, and provide predictive alerts (e.g., “Focus on Topic X—frequently asked in exams”). </a:t>
            </a:r>
          </a:p>
          <a:p>
            <a:pPr marL="342900" indent="-342900" algn="just" fontAlgn="base">
              <a:lnSpc>
                <a:spcPct val="150000"/>
              </a:lnSpc>
              <a:buAutoNum type="arabicPeriod"/>
            </a:pPr>
            <a:r>
              <a:rPr lang="en-US" b="1" dirty="0"/>
              <a:t>Visualize Study Progress: </a:t>
            </a:r>
            <a:r>
              <a:rPr lang="en-US" dirty="0"/>
              <a:t>Offer a real-time dashboard showing learning milestones, weak areas, practice quizzes, and performance forecasts. </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a:t>
            </a:r>
            <a:r>
              <a:rPr lang="en-US" sz="2400" b="1" dirty="0"/>
              <a:t>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724370"/>
          </a:xfrm>
          <a:prstGeom prst="rect">
            <a:avLst/>
          </a:prstGeom>
          <a:noFill/>
        </p:spPr>
        <p:txBody>
          <a:bodyPr wrap="square" rtlCol="0">
            <a:spAutoFit/>
          </a:bodyPr>
          <a:lstStyle/>
          <a:p>
            <a:pPr fontAlgn="base"/>
            <a:endParaRPr lang="en-US" b="1" dirty="0"/>
          </a:p>
          <a:p>
            <a:r>
              <a:rPr lang="en-US" b="1" dirty="0"/>
              <a:t>Proposed Solution: Smart Study Generator Agent </a:t>
            </a:r>
          </a:p>
          <a:p>
            <a:r>
              <a:rPr lang="en-IN" dirty="0"/>
              <a:t>The proposed solution is an AI-powered Smart Study Generator built using </a:t>
            </a:r>
            <a:r>
              <a:rPr lang="en-IN" b="1" dirty="0" err="1"/>
              <a:t>LangFlow</a:t>
            </a:r>
            <a:r>
              <a:rPr lang="en-IN" dirty="0"/>
              <a:t>, </a:t>
            </a:r>
            <a:r>
              <a:rPr lang="en-IN" b="1" dirty="0"/>
              <a:t>IBM watsonx.ai</a:t>
            </a:r>
            <a:r>
              <a:rPr lang="en-IN" dirty="0"/>
              <a:t>, and </a:t>
            </a:r>
            <a:r>
              <a:rPr lang="en-IN" b="1" dirty="0"/>
              <a:t>IBM Granite Models</a:t>
            </a:r>
            <a:r>
              <a:rPr lang="en-IN" dirty="0"/>
              <a:t>. The system acts as an intelligent study assistant that helps students convert scattered learning resources into structured study material.</a:t>
            </a:r>
          </a:p>
          <a:p>
            <a:endParaRPr lang="en-IN" dirty="0"/>
          </a:p>
          <a:p>
            <a:r>
              <a:rPr lang="en-IN" dirty="0"/>
              <a:t>Students can upload lecture notes, PDFs, textbook pages, or ask questions directly. The AI processes the uploaded content and generates concise summaries, important points, flashcards, practice quizzes, and personalized study plans.</a:t>
            </a:r>
          </a:p>
          <a:p>
            <a:r>
              <a:rPr lang="en-IN" dirty="0"/>
              <a:t>The solution consists of multiple AI agents working together inside </a:t>
            </a:r>
            <a:r>
              <a:rPr lang="en-IN" dirty="0" err="1"/>
              <a:t>LangFlow</a:t>
            </a:r>
            <a:r>
              <a:rPr lang="en-IN" dirty="0"/>
              <a:t>.</a:t>
            </a:r>
          </a:p>
          <a:p>
            <a:pPr>
              <a:lnSpc>
                <a:spcPct val="150000"/>
              </a:lnSpc>
            </a:pPr>
            <a:r>
              <a:rPr lang="en-IN" b="1" dirty="0"/>
              <a:t>Study Material Agent</a:t>
            </a:r>
            <a:r>
              <a:rPr lang="en-IN" dirty="0"/>
              <a:t> – Generates summaries and important notes from uploaded documents. </a:t>
            </a:r>
          </a:p>
          <a:p>
            <a:pPr>
              <a:lnSpc>
                <a:spcPct val="150000"/>
              </a:lnSpc>
            </a:pPr>
            <a:r>
              <a:rPr lang="en-IN" b="1" dirty="0"/>
              <a:t>Flashcard Agent</a:t>
            </a:r>
            <a:r>
              <a:rPr lang="en-IN" dirty="0"/>
              <a:t> – Creates question-answer flashcards for revision. </a:t>
            </a:r>
          </a:p>
          <a:p>
            <a:pPr>
              <a:lnSpc>
                <a:spcPct val="150000"/>
              </a:lnSpc>
            </a:pPr>
            <a:r>
              <a:rPr lang="en-IN" b="1" dirty="0"/>
              <a:t>Quiz Generator Agent</a:t>
            </a:r>
            <a:r>
              <a:rPr lang="en-IN" dirty="0"/>
              <a:t> – Generates MCQs, True/False, and short-answer questions. </a:t>
            </a:r>
          </a:p>
          <a:p>
            <a:pPr>
              <a:lnSpc>
                <a:spcPct val="150000"/>
              </a:lnSpc>
            </a:pPr>
            <a:r>
              <a:rPr lang="en-IN" b="1" dirty="0"/>
              <a:t>Study Planner Agent</a:t>
            </a:r>
            <a:r>
              <a:rPr lang="en-IN" dirty="0"/>
              <a:t> – Creates personalized study schedules based on exam date and available study hours. </a:t>
            </a:r>
          </a:p>
          <a:p>
            <a:pPr>
              <a:lnSpc>
                <a:spcPct val="150000"/>
              </a:lnSpc>
            </a:pPr>
            <a:r>
              <a:rPr lang="en-IN" b="1" dirty="0"/>
              <a:t>Question Answering Agent</a:t>
            </a:r>
            <a:r>
              <a:rPr lang="en-IN" dirty="0"/>
              <a:t> – Answers questions only from uploaded notes using Retrieval-Augmented Generation (RAG). </a:t>
            </a:r>
          </a:p>
          <a:p>
            <a:pPr>
              <a:lnSpc>
                <a:spcPct val="150000"/>
              </a:lnSpc>
            </a:pPr>
            <a:r>
              <a:rPr lang="en-IN" dirty="0"/>
              <a:t>The generated study material is displayed through a user-friendly interface, enabling students to prepare efficiently and improve learning outcomes.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400" b="1" dirty="0"/>
              <a:t>Proposed </a:t>
            </a:r>
            <a:r>
              <a:rPr lang="en-US" sz="2800" b="1" dirty="0"/>
              <a:t>Solution</a:t>
            </a:r>
            <a:r>
              <a:rPr lang="en-US" sz="2400" b="1" dirty="0"/>
              <a:t>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39" y="1207008"/>
            <a:ext cx="11149289" cy="4955203"/>
          </a:xfrm>
          <a:prstGeom prst="rect">
            <a:avLst/>
          </a:prstGeom>
          <a:noFill/>
        </p:spPr>
        <p:txBody>
          <a:bodyPr wrap="square" rtlCol="0">
            <a:spAutoFit/>
          </a:bodyPr>
          <a:lstStyle/>
          <a:p>
            <a:pPr algn="just"/>
            <a:r>
              <a:rPr lang="en-IN" sz="1800" dirty="0"/>
              <a:t>These are the technologies/platforms your project uses.</a:t>
            </a:r>
          </a:p>
          <a:p>
            <a:pPr marL="342900" indent="-342900" algn="just">
              <a:lnSpc>
                <a:spcPct val="200000"/>
              </a:lnSpc>
              <a:buFont typeface="+mj-lt"/>
              <a:buAutoNum type="arabicPeriod"/>
            </a:pPr>
            <a:r>
              <a:rPr lang="en-IN" sz="1800" b="1" dirty="0" err="1"/>
              <a:t>LangFlow</a:t>
            </a:r>
            <a:r>
              <a:rPr lang="en-IN" sz="1800" dirty="0"/>
              <a:t> – Visual AI workflow builder for designing agentic workflows. </a:t>
            </a:r>
          </a:p>
          <a:p>
            <a:pPr marL="342900" indent="-342900" algn="just">
              <a:lnSpc>
                <a:spcPct val="200000"/>
              </a:lnSpc>
              <a:buFont typeface="+mj-lt"/>
              <a:buAutoNum type="arabicPeriod"/>
            </a:pPr>
            <a:r>
              <a:rPr lang="en-IN" sz="1800" b="1" dirty="0"/>
              <a:t>IBM watsonx.ai</a:t>
            </a:r>
            <a:r>
              <a:rPr lang="en-IN" sz="1800" dirty="0"/>
              <a:t> – Provides access to IBM Granite models and AI services. </a:t>
            </a:r>
          </a:p>
          <a:p>
            <a:pPr marL="342900" indent="-342900" algn="just">
              <a:lnSpc>
                <a:spcPct val="200000"/>
              </a:lnSpc>
              <a:buFont typeface="+mj-lt"/>
              <a:buAutoNum type="arabicPeriod"/>
            </a:pPr>
            <a:r>
              <a:rPr lang="en-IN" sz="1800" b="1" dirty="0"/>
              <a:t>IBM Granite 4.0 8B Instruct</a:t>
            </a:r>
            <a:r>
              <a:rPr lang="en-IN" sz="1800" dirty="0"/>
              <a:t> – Large Language Model used for summarization, quiz generation, flashcards, and study planning. </a:t>
            </a:r>
          </a:p>
          <a:p>
            <a:pPr marL="342900" indent="-342900" algn="just">
              <a:lnSpc>
                <a:spcPct val="200000"/>
              </a:lnSpc>
              <a:buFont typeface="+mj-lt"/>
              <a:buAutoNum type="arabicPeriod"/>
            </a:pPr>
            <a:r>
              <a:rPr lang="en-IN" sz="1800" b="1" dirty="0"/>
              <a:t>IBM Cloud</a:t>
            </a:r>
            <a:r>
              <a:rPr lang="en-IN" sz="1800" dirty="0"/>
              <a:t> – Hosts </a:t>
            </a:r>
            <a:r>
              <a:rPr lang="en-IN" sz="1800" dirty="0" err="1"/>
              <a:t>LangFlow</a:t>
            </a:r>
            <a:r>
              <a:rPr lang="en-IN" sz="1800" dirty="0"/>
              <a:t> and IBM watsonx.ai services. </a:t>
            </a:r>
          </a:p>
          <a:p>
            <a:pPr marL="342900" indent="-342900" algn="just">
              <a:lnSpc>
                <a:spcPct val="200000"/>
              </a:lnSpc>
              <a:buFont typeface="+mj-lt"/>
              <a:buAutoNum type="arabicPeriod"/>
            </a:pPr>
            <a:r>
              <a:rPr lang="en-IN" sz="1800" b="1" dirty="0"/>
              <a:t>RAG (Retrieval-Augmented Generation)</a:t>
            </a:r>
            <a:r>
              <a:rPr lang="en-IN" sz="1800" dirty="0"/>
              <a:t> – Retrieves information from uploaded study materials before generating responses. </a:t>
            </a:r>
          </a:p>
          <a:p>
            <a:pPr marL="285750" indent="-285750" algn="just">
              <a:buFont typeface="Arial" panose="020B0604020202020204" pitchFamily="34" charset="0"/>
              <a:buChar char="•"/>
            </a:pPr>
            <a:endParaRPr lang="en-US" sz="1800" dirty="0"/>
          </a:p>
          <a:p>
            <a:pPr algn="just"/>
            <a:endParaRPr lang="en-US" dirty="0"/>
          </a:p>
          <a:p>
            <a:pPr algn="just"/>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360314" y="638992"/>
            <a:ext cx="11471372" cy="6232475"/>
          </a:xfrm>
          <a:prstGeom prst="rect">
            <a:avLst/>
          </a:prstGeom>
          <a:noFill/>
        </p:spPr>
        <p:txBody>
          <a:bodyPr wrap="square" rtlCol="0">
            <a:spAutoFit/>
          </a:bodyPr>
          <a:lstStyle/>
          <a:p>
            <a:pPr algn="just">
              <a:spcBef>
                <a:spcPts val="120"/>
              </a:spcBef>
              <a:spcAft>
                <a:spcPts val="120"/>
              </a:spcAft>
            </a:pPr>
            <a:endParaRPr lang="en-US" dirty="0"/>
          </a:p>
          <a:p>
            <a:pPr algn="just">
              <a:spcBef>
                <a:spcPts val="120"/>
              </a:spcBef>
              <a:spcAft>
                <a:spcPts val="120"/>
              </a:spcAft>
            </a:pPr>
            <a:r>
              <a:rPr lang="en-IN" dirty="0"/>
              <a:t>These are the technologies/platforms your project uses.</a:t>
            </a:r>
          </a:p>
          <a:p>
            <a:pPr algn="just">
              <a:spcBef>
                <a:spcPts val="120"/>
              </a:spcBef>
              <a:spcAft>
                <a:spcPts val="120"/>
              </a:spcAft>
            </a:pPr>
            <a:r>
              <a:rPr lang="en-IN" b="1" dirty="0"/>
              <a:t>1. Chat Input</a:t>
            </a:r>
          </a:p>
          <a:p>
            <a:pPr algn="just">
              <a:spcBef>
                <a:spcPts val="120"/>
              </a:spcBef>
              <a:spcAft>
                <a:spcPts val="120"/>
              </a:spcAft>
            </a:pPr>
            <a:r>
              <a:rPr lang="en-IN" dirty="0"/>
              <a:t>Provides the interface where students enter their study-related queries, upload requests, or interact with the Smart Study Generator using natural language.</a:t>
            </a:r>
          </a:p>
          <a:p>
            <a:pPr algn="just">
              <a:spcBef>
                <a:spcPts val="120"/>
              </a:spcBef>
              <a:spcAft>
                <a:spcPts val="120"/>
              </a:spcAft>
            </a:pPr>
            <a:r>
              <a:rPr lang="en-IN" b="1" dirty="0"/>
              <a:t>2. File Upload</a:t>
            </a:r>
          </a:p>
          <a:p>
            <a:pPr algn="just">
              <a:spcBef>
                <a:spcPts val="120"/>
              </a:spcBef>
              <a:spcAft>
                <a:spcPts val="120"/>
              </a:spcAft>
            </a:pPr>
            <a:r>
              <a:rPr lang="en-IN" dirty="0"/>
              <a:t>Allows students to upload study materials such as PDF notes, textbooks, lecture slides, and documents for AI-based processing.</a:t>
            </a:r>
          </a:p>
          <a:p>
            <a:pPr algn="just">
              <a:spcBef>
                <a:spcPts val="120"/>
              </a:spcBef>
              <a:spcAft>
                <a:spcPts val="120"/>
              </a:spcAft>
            </a:pPr>
            <a:r>
              <a:rPr lang="en-IN" b="1" dirty="0"/>
              <a:t>3. File Loader</a:t>
            </a:r>
          </a:p>
          <a:p>
            <a:pPr algn="just">
              <a:spcBef>
                <a:spcPts val="120"/>
              </a:spcBef>
              <a:spcAft>
                <a:spcPts val="120"/>
              </a:spcAft>
            </a:pPr>
            <a:r>
              <a:rPr lang="en-IN" dirty="0"/>
              <a:t>Extracts textual content from the uploaded files, making the study material ready for further processing within the </a:t>
            </a:r>
            <a:r>
              <a:rPr lang="en-IN" dirty="0" err="1"/>
              <a:t>LangFlow</a:t>
            </a:r>
            <a:r>
              <a:rPr lang="en-IN" dirty="0"/>
              <a:t> workflow.</a:t>
            </a:r>
          </a:p>
          <a:p>
            <a:pPr algn="just">
              <a:spcBef>
                <a:spcPts val="120"/>
              </a:spcBef>
              <a:spcAft>
                <a:spcPts val="120"/>
              </a:spcAft>
            </a:pPr>
            <a:r>
              <a:rPr lang="en-IN" b="1" dirty="0"/>
              <a:t>4. Text Splitter</a:t>
            </a:r>
          </a:p>
          <a:p>
            <a:pPr algn="just">
              <a:spcBef>
                <a:spcPts val="120"/>
              </a:spcBef>
              <a:spcAft>
                <a:spcPts val="120"/>
              </a:spcAft>
            </a:pPr>
            <a:r>
              <a:rPr lang="en-IN" dirty="0"/>
              <a:t>Divides large documents into smaller, manageable chunks, improving retrieval accuracy and enabling efficient processing by the AI model.</a:t>
            </a:r>
          </a:p>
          <a:p>
            <a:pPr algn="just">
              <a:spcBef>
                <a:spcPts val="120"/>
              </a:spcBef>
              <a:spcAft>
                <a:spcPts val="120"/>
              </a:spcAft>
            </a:pPr>
            <a:r>
              <a:rPr lang="en-IN" b="1" dirty="0"/>
              <a:t>5. Embeddings</a:t>
            </a:r>
          </a:p>
          <a:p>
            <a:pPr algn="just">
              <a:spcBef>
                <a:spcPts val="120"/>
              </a:spcBef>
              <a:spcAft>
                <a:spcPts val="120"/>
              </a:spcAft>
            </a:pPr>
            <a:r>
              <a:rPr lang="en-IN" dirty="0"/>
              <a:t>Converts the text chunks into high-dimensional vector representations, enabling semantic search and similarity-based information retrieval.</a:t>
            </a:r>
          </a:p>
          <a:p>
            <a:pPr algn="just">
              <a:spcBef>
                <a:spcPts val="120"/>
              </a:spcBef>
              <a:spcAft>
                <a:spcPts val="120"/>
              </a:spcAft>
            </a:pPr>
            <a:r>
              <a:rPr lang="en-IN" b="1" dirty="0"/>
              <a:t>6. Chroma Vector Store</a:t>
            </a:r>
          </a:p>
          <a:p>
            <a:pPr algn="just">
              <a:spcBef>
                <a:spcPts val="120"/>
              </a:spcBef>
              <a:spcAft>
                <a:spcPts val="120"/>
              </a:spcAft>
            </a:pPr>
            <a:r>
              <a:rPr lang="en-IN" dirty="0"/>
              <a:t>Stores the generated embeddings in a vector database, allowing fast and accurate retrieval of relevant study content during user queries.</a:t>
            </a:r>
          </a:p>
          <a:p>
            <a:pPr algn="just">
              <a:spcBef>
                <a:spcPts val="120"/>
              </a:spcBef>
              <a:spcAft>
                <a:spcPts val="120"/>
              </a:spcAft>
            </a:pPr>
            <a:r>
              <a:rPr lang="en-IN" b="1" dirty="0"/>
              <a:t>7. Retriever</a:t>
            </a:r>
          </a:p>
          <a:p>
            <a:pPr algn="just">
              <a:spcBef>
                <a:spcPts val="120"/>
              </a:spcBef>
              <a:spcAft>
                <a:spcPts val="120"/>
              </a:spcAft>
            </a:pPr>
            <a:r>
              <a:rPr lang="en-IN" dirty="0"/>
              <a:t>Searches the vector database to find the most relevant information related to the student's question before sending it to the AI model.</a:t>
            </a:r>
          </a:p>
          <a:p>
            <a:pPr algn="just">
              <a:spcBef>
                <a:spcPts val="120"/>
              </a:spcBef>
              <a:spcAft>
                <a:spcPts val="120"/>
              </a:spcAft>
            </a:pPr>
            <a:r>
              <a:rPr lang="en-IN" b="1" dirty="0"/>
              <a:t>8. Prompt Template</a:t>
            </a:r>
          </a:p>
          <a:p>
            <a:pPr algn="just">
              <a:spcBef>
                <a:spcPts val="120"/>
              </a:spcBef>
              <a:spcAft>
                <a:spcPts val="120"/>
              </a:spcAft>
            </a:pPr>
            <a:r>
              <a:rPr lang="en-IN" dirty="0"/>
              <a:t>Defines structured instructions for the IBM Granite model, ensuring responses such as summaries, flashcards, quizzes, and study plans are generated in the desired format.</a:t>
            </a:r>
          </a:p>
          <a:p>
            <a:pPr algn="just">
              <a:spcBef>
                <a:spcPts val="120"/>
              </a:spcBef>
              <a:spcAft>
                <a:spcPts val="120"/>
              </a:spcAft>
            </a:pPr>
            <a:r>
              <a:rPr lang="en-IN" b="1" dirty="0"/>
              <a:t>9. IBM </a:t>
            </a:r>
            <a:r>
              <a:rPr lang="en-IN" b="1" dirty="0" err="1"/>
              <a:t>watsonx</a:t>
            </a:r>
            <a:r>
              <a:rPr lang="en-IN" b="1" dirty="0"/>
              <a:t> Model</a:t>
            </a:r>
          </a:p>
          <a:p>
            <a:pPr algn="just">
              <a:spcBef>
                <a:spcPts val="120"/>
              </a:spcBef>
              <a:spcAft>
                <a:spcPts val="120"/>
              </a:spcAft>
            </a:pPr>
            <a:r>
              <a:rPr lang="en-IN" dirty="0"/>
              <a:t>Uses the IBM Granite 4.0 8B Instruct model to generate intelligent, context-aware responses including summaries, personalized study plans, flashcards, and practice quizzes.</a:t>
            </a:r>
          </a:p>
          <a:p>
            <a:pPr algn="just">
              <a:spcBef>
                <a:spcPts val="120"/>
              </a:spcBef>
              <a:spcAft>
                <a:spcPts val="120"/>
              </a:spcAft>
            </a:pPr>
            <a:r>
              <a:rPr lang="en-IN" b="1" dirty="0"/>
              <a:t>10. Chat Output</a:t>
            </a:r>
          </a:p>
          <a:p>
            <a:pPr algn="just">
              <a:spcBef>
                <a:spcPts val="120"/>
              </a:spcBef>
              <a:spcAft>
                <a:spcPts val="120"/>
              </a:spcAft>
            </a:pPr>
            <a:r>
              <a:rPr lang="en-IN" dirty="0"/>
              <a:t>Displays the AI-generated results, such as summaries, answers, quizzes, flashcards, and study recommendations, to the student in an easy-to-read format.</a:t>
            </a:r>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7" name="Picture 6">
            <a:extLst>
              <a:ext uri="{FF2B5EF4-FFF2-40B4-BE49-F238E27FC236}">
                <a16:creationId xmlns:a16="http://schemas.microsoft.com/office/drawing/2014/main" id="{A0AFB668-EFA9-EDF4-7613-B34E104B7051}"/>
              </a:ext>
            </a:extLst>
          </p:cNvPr>
          <p:cNvPicPr>
            <a:picLocks noChangeAspect="1"/>
          </p:cNvPicPr>
          <p:nvPr/>
        </p:nvPicPr>
        <p:blipFill>
          <a:blip r:embed="rId3"/>
          <a:stretch>
            <a:fillRect/>
          </a:stretch>
        </p:blipFill>
        <p:spPr>
          <a:xfrm>
            <a:off x="388865" y="1022335"/>
            <a:ext cx="11217612" cy="502963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5;p5">
            <a:extLst>
              <a:ext uri="{FF2B5EF4-FFF2-40B4-BE49-F238E27FC236}">
                <a16:creationId xmlns:a16="http://schemas.microsoft.com/office/drawing/2014/main" id="{FB1F3F63-20A2-6A36-E255-5E8B368C04AC}"/>
              </a:ext>
            </a:extLst>
          </p:cNvPr>
          <p:cNvSpPr/>
          <p:nvPr/>
        </p:nvSpPr>
        <p:spPr>
          <a:xfrm>
            <a:off x="537590" y="323239"/>
            <a:ext cx="10494204"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800" b="1" dirty="0"/>
              <a:t>Smart Study Generator</a:t>
            </a:r>
            <a:r>
              <a:rPr lang="en-IN" sz="2800" dirty="0"/>
              <a:t> </a:t>
            </a:r>
            <a:r>
              <a:rPr lang="en-IN" sz="2800" b="1" dirty="0"/>
              <a:t>Agent</a:t>
            </a:r>
            <a:r>
              <a:rPr lang="en-US" sz="2800" b="1" dirty="0">
                <a:sym typeface="Times New Roman"/>
              </a:rPr>
              <a:t> - Output</a:t>
            </a:r>
            <a:endParaRPr sz="2800" b="1" dirty="0">
              <a:sym typeface="Times New Roman"/>
            </a:endParaRPr>
          </a:p>
        </p:txBody>
      </p:sp>
      <p:pic>
        <p:nvPicPr>
          <p:cNvPr id="9" name="Picture 8">
            <a:extLst>
              <a:ext uri="{FF2B5EF4-FFF2-40B4-BE49-F238E27FC236}">
                <a16:creationId xmlns:a16="http://schemas.microsoft.com/office/drawing/2014/main" id="{B8BA3E48-C21B-CDA3-72EF-22126C5EB120}"/>
              </a:ext>
            </a:extLst>
          </p:cNvPr>
          <p:cNvPicPr>
            <a:picLocks noChangeAspect="1"/>
          </p:cNvPicPr>
          <p:nvPr/>
        </p:nvPicPr>
        <p:blipFill>
          <a:blip r:embed="rId2"/>
          <a:stretch>
            <a:fillRect/>
          </a:stretch>
        </p:blipFill>
        <p:spPr>
          <a:xfrm>
            <a:off x="589670" y="1051574"/>
            <a:ext cx="10799268" cy="4786489"/>
          </a:xfrm>
          <a:prstGeom prst="rect">
            <a:avLst/>
          </a:prstGeom>
        </p:spPr>
      </p:pic>
    </p:spTree>
    <p:extLst>
      <p:ext uri="{BB962C8B-B14F-4D97-AF65-F5344CB8AC3E}">
        <p14:creationId xmlns:p14="http://schemas.microsoft.com/office/powerpoint/2010/main" val="94921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50C24BFB-BC5D-72E3-572F-15AD74B55CB3}"/>
              </a:ext>
            </a:extLst>
          </p:cNvPr>
          <p:cNvPicPr>
            <a:picLocks noChangeAspect="1"/>
          </p:cNvPicPr>
          <p:nvPr/>
        </p:nvPicPr>
        <p:blipFill>
          <a:blip r:embed="rId3"/>
          <a:stretch>
            <a:fillRect/>
          </a:stretch>
        </p:blipFill>
        <p:spPr>
          <a:xfrm>
            <a:off x="658755" y="732419"/>
            <a:ext cx="11143726" cy="59731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a:t>
            </a:r>
            <a:r>
              <a:rPr lang="en-IN" sz="3200" b="1" dirty="0"/>
              <a:t>Smart Study Generator\</a:t>
            </a:r>
            <a:endParaRPr lang="en-IN" sz="3200"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92296" y="941357"/>
            <a:ext cx="7406640" cy="4616648"/>
          </a:xfrm>
          <a:prstGeom prst="rect">
            <a:avLst/>
          </a:prstGeom>
          <a:noFill/>
        </p:spPr>
        <p:txBody>
          <a:bodyPr wrap="square" rtlCol="0">
            <a:spAutoFit/>
          </a:bodyPr>
          <a:lstStyle/>
          <a:p>
            <a:pPr algn="just"/>
            <a:r>
              <a:rPr lang="en-IN" b="1" dirty="0"/>
              <a:t>Role of Agentic AI in Smart Study Generator</a:t>
            </a:r>
            <a:endParaRPr lang="en-IN" dirty="0"/>
          </a:p>
          <a:p>
            <a:pPr algn="just"/>
            <a:r>
              <a:rPr lang="en-IN" dirty="0"/>
              <a:t>Agentic AI enables the </a:t>
            </a:r>
            <a:r>
              <a:rPr lang="en-IN" b="1" dirty="0"/>
              <a:t>Smart Study Generator</a:t>
            </a:r>
            <a:r>
              <a:rPr lang="en-IN" dirty="0"/>
              <a:t> to function as an intelligent and autonomous learning assistant rather than a traditional chatbot. Powered by </a:t>
            </a:r>
            <a:r>
              <a:rPr lang="en-IN" b="1" dirty="0"/>
              <a:t>IBM watsonx.ai</a:t>
            </a:r>
            <a:r>
              <a:rPr lang="en-IN" dirty="0"/>
              <a:t>, </a:t>
            </a:r>
            <a:r>
              <a:rPr lang="en-IN" b="1" dirty="0"/>
              <a:t>IBM Granite Models</a:t>
            </a:r>
            <a:r>
              <a:rPr lang="en-IN" dirty="0"/>
              <a:t>, and </a:t>
            </a:r>
            <a:r>
              <a:rPr lang="en-IN" b="1" dirty="0" err="1"/>
              <a:t>LangFlow</a:t>
            </a:r>
            <a:r>
              <a:rPr lang="en-IN" dirty="0"/>
              <a:t>, the system understands students' learning requirements and generates personalized study resources from uploaded documents.</a:t>
            </a:r>
          </a:p>
          <a:p>
            <a:pPr algn="just"/>
            <a:r>
              <a:rPr lang="en-IN" dirty="0"/>
              <a:t>The AI agent automatically </a:t>
            </a:r>
            <a:r>
              <a:rPr lang="en-IN" dirty="0" err="1"/>
              <a:t>analyzes</a:t>
            </a:r>
            <a:r>
              <a:rPr lang="en-IN" dirty="0"/>
              <a:t> study materials such as lecture notes, PDFs, textbooks, and research articles. It performs multiple learning tasks including </a:t>
            </a:r>
            <a:r>
              <a:rPr lang="en-IN" b="1" dirty="0"/>
              <a:t>summarization, concept explanation, flashcard generation, quiz creation, and personalized study planning</a:t>
            </a:r>
            <a:r>
              <a:rPr lang="en-IN" dirty="0"/>
              <a:t>, allowing students to prepare more effectively.</a:t>
            </a:r>
          </a:p>
          <a:p>
            <a:pPr algn="just"/>
            <a:r>
              <a:rPr lang="en-IN" dirty="0"/>
              <a:t>Unlike conventional study tools, the Agentic AI continuously adapts to the student's queries and learning context. It retrieves relevant information from uploaded documents using </a:t>
            </a:r>
            <a:r>
              <a:rPr lang="en-IN" b="1" dirty="0"/>
              <a:t>Retrieval-Augmented Generation (RAG)</a:t>
            </a:r>
            <a:r>
              <a:rPr lang="en-IN" dirty="0"/>
              <a:t>, ensuring accurate, context-aware, and reliable responses while reducing hallucinations.</a:t>
            </a:r>
          </a:p>
          <a:p>
            <a:pPr algn="just"/>
            <a:r>
              <a:rPr lang="en-IN" dirty="0"/>
              <a:t>The agent is also capable of organizing scattered learning resources into structured study content, identifying key concepts, and recommending important topics for revision. This enables students to save time, improve understanding, and focus on high-priority exam topics.</a:t>
            </a:r>
          </a:p>
          <a:p>
            <a:pPr algn="just"/>
            <a:r>
              <a:rPr lang="en-IN" dirty="0"/>
              <a:t>Overall, Agentic AI makes the Smart Study Generator </a:t>
            </a:r>
            <a:r>
              <a:rPr lang="en-IN" b="1" dirty="0"/>
              <a:t>proactive, personalized, and goal-oriented</a:t>
            </a:r>
            <a:r>
              <a:rPr lang="en-IN" dirty="0"/>
              <a:t>, acting as a </a:t>
            </a:r>
            <a:r>
              <a:rPr lang="en-IN" b="1" dirty="0"/>
              <a:t>smart digital study companion</a:t>
            </a:r>
            <a:r>
              <a:rPr lang="en-IN" dirty="0"/>
              <a:t> that supports efficient learning, exam preparation, and continuous knowledge enhancement.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9B41CCF7-9AE4-2B45-1E3E-AE8D84CC3862}"/>
              </a:ext>
            </a:extLst>
          </p:cNvPr>
          <p:cNvPicPr>
            <a:picLocks noChangeAspect="1"/>
          </p:cNvPicPr>
          <p:nvPr/>
        </p:nvPicPr>
        <p:blipFill>
          <a:blip r:embed="rId3"/>
          <a:stretch>
            <a:fillRect/>
          </a:stretch>
        </p:blipFill>
        <p:spPr>
          <a:xfrm>
            <a:off x="819153" y="2196835"/>
            <a:ext cx="3290732" cy="3707632"/>
          </a:xfrm>
          <a:prstGeom prst="rect">
            <a:avLst/>
          </a:prstGeom>
        </p:spPr>
      </p:pic>
      <p:pic>
        <p:nvPicPr>
          <p:cNvPr id="6" name="Picture 5">
            <a:extLst>
              <a:ext uri="{FF2B5EF4-FFF2-40B4-BE49-F238E27FC236}">
                <a16:creationId xmlns:a16="http://schemas.microsoft.com/office/drawing/2014/main" id="{CF7AE3DB-2D4F-F978-BF0A-445D4C0816BE}"/>
              </a:ext>
            </a:extLst>
          </p:cNvPr>
          <p:cNvPicPr>
            <a:picLocks noChangeAspect="1"/>
          </p:cNvPicPr>
          <p:nvPr/>
        </p:nvPicPr>
        <p:blipFill>
          <a:blip r:embed="rId4"/>
          <a:stretch>
            <a:fillRect/>
          </a:stretch>
        </p:blipFill>
        <p:spPr>
          <a:xfrm>
            <a:off x="1000485" y="3762880"/>
            <a:ext cx="716946" cy="363383"/>
          </a:xfrm>
          <a:prstGeom prst="rect">
            <a:avLst/>
          </a:prstGeom>
        </p:spPr>
      </p:pic>
      <p:pic>
        <p:nvPicPr>
          <p:cNvPr id="8" name="Picture 7">
            <a:extLst>
              <a:ext uri="{FF2B5EF4-FFF2-40B4-BE49-F238E27FC236}">
                <a16:creationId xmlns:a16="http://schemas.microsoft.com/office/drawing/2014/main" id="{9150405F-FF1B-62BA-21BC-B0A9A4453440}"/>
              </a:ext>
            </a:extLst>
          </p:cNvPr>
          <p:cNvPicPr>
            <a:picLocks noChangeAspect="1"/>
          </p:cNvPicPr>
          <p:nvPr/>
        </p:nvPicPr>
        <p:blipFill>
          <a:blip r:embed="rId5"/>
          <a:stretch>
            <a:fillRect/>
          </a:stretch>
        </p:blipFill>
        <p:spPr>
          <a:xfrm>
            <a:off x="1218724" y="3849348"/>
            <a:ext cx="898278" cy="276915"/>
          </a:xfrm>
          <a:prstGeom prst="rect">
            <a:avLst/>
          </a:prstGeom>
        </p:spPr>
      </p:pic>
      <p:pic>
        <p:nvPicPr>
          <p:cNvPr id="10" name="Picture 9">
            <a:extLst>
              <a:ext uri="{FF2B5EF4-FFF2-40B4-BE49-F238E27FC236}">
                <a16:creationId xmlns:a16="http://schemas.microsoft.com/office/drawing/2014/main" id="{77641059-8B1A-4087-DEA5-8C558D9DFFDD}"/>
              </a:ext>
            </a:extLst>
          </p:cNvPr>
          <p:cNvPicPr>
            <a:picLocks noChangeAspect="1"/>
          </p:cNvPicPr>
          <p:nvPr/>
        </p:nvPicPr>
        <p:blipFill>
          <a:blip r:embed="rId6"/>
          <a:stretch>
            <a:fillRect/>
          </a:stretch>
        </p:blipFill>
        <p:spPr>
          <a:xfrm>
            <a:off x="6590634" y="2196835"/>
            <a:ext cx="3775586" cy="367927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47744" y="941544"/>
            <a:ext cx="11301984" cy="5586145"/>
          </a:xfrm>
          <a:prstGeom prst="rect">
            <a:avLst/>
          </a:prstGeom>
          <a:noFill/>
        </p:spPr>
        <p:txBody>
          <a:bodyPr wrap="square" rtlCol="0">
            <a:spAutoFit/>
          </a:bodyPr>
          <a:lstStyle/>
          <a:p>
            <a:pPr algn="just"/>
            <a:r>
              <a:rPr lang="en-IN" sz="1700" dirty="0"/>
              <a:t>The proposed </a:t>
            </a:r>
            <a:r>
              <a:rPr lang="en-IN" sz="1700" b="1" dirty="0"/>
              <a:t>Smart Study Generator Agent</a:t>
            </a:r>
            <a:r>
              <a:rPr lang="en-IN" sz="1700" dirty="0"/>
              <a:t> combines </a:t>
            </a:r>
            <a:r>
              <a:rPr lang="en-IN" sz="1700" b="1" dirty="0"/>
              <a:t>Agentic AI, Retrieval-Augmented Generation (RAG), IBM Granite Models, and </a:t>
            </a:r>
            <a:r>
              <a:rPr lang="en-IN" sz="1700" b="1" dirty="0" err="1"/>
              <a:t>LangFlow</a:t>
            </a:r>
            <a:r>
              <a:rPr lang="en-IN" sz="1700" dirty="0"/>
              <a:t> to create an intelligent and personalized learning assistant for students.</a:t>
            </a:r>
          </a:p>
          <a:p>
            <a:pPr algn="just"/>
            <a:r>
              <a:rPr lang="en-IN" sz="1700" b="1" dirty="0"/>
              <a:t>Agentic AI-Powered Learning</a:t>
            </a:r>
            <a:r>
              <a:rPr lang="en-IN" sz="1700" dirty="0"/>
              <a:t> – Unlike traditional study tools, the AI agent autonomously understands user requirements, </a:t>
            </a:r>
            <a:r>
              <a:rPr lang="en-IN" sz="1700" dirty="0" err="1"/>
              <a:t>analyzes</a:t>
            </a:r>
            <a:r>
              <a:rPr lang="en-IN" sz="1700" dirty="0"/>
              <a:t> uploaded study materials, and performs multiple learning tasks such as summarization, quiz generation, flashcard creation, and study planning. </a:t>
            </a:r>
          </a:p>
          <a:p>
            <a:pPr algn="just"/>
            <a:r>
              <a:rPr lang="en-IN" sz="1700" b="1" dirty="0"/>
              <a:t>RAG-Based Knowledge Retrieval</a:t>
            </a:r>
            <a:r>
              <a:rPr lang="en-IN" sz="1700" dirty="0"/>
              <a:t> – Integrates Retrieval-Augmented Generation (RAG) to retrieve relevant information from uploaded documents before generating responses, ensuring accurate, context-aware, and trustworthy study material. </a:t>
            </a:r>
          </a:p>
          <a:p>
            <a:pPr algn="just"/>
            <a:r>
              <a:rPr lang="en-IN" sz="1700" b="1" dirty="0"/>
              <a:t>Personalized Study Experience</a:t>
            </a:r>
            <a:r>
              <a:rPr lang="en-IN" sz="1700" dirty="0"/>
              <a:t> – Generates customized study plans, revision notes, and practice questions based on the student's uploaded content and learning goals. </a:t>
            </a:r>
          </a:p>
          <a:p>
            <a:pPr algn="just"/>
            <a:r>
              <a:rPr lang="en-IN" sz="1700" b="1" dirty="0"/>
              <a:t>Multi-Document Learning</a:t>
            </a:r>
            <a:r>
              <a:rPr lang="en-IN" sz="1700" dirty="0"/>
              <a:t> – Combines information from lecture notes, textbooks, PDFs, and research materials into a single, organized knowledge base for seamless learning. </a:t>
            </a:r>
          </a:p>
          <a:p>
            <a:pPr algn="just"/>
            <a:r>
              <a:rPr lang="en-IN" sz="1700" b="1" dirty="0"/>
              <a:t>Interactive AI Study Assistant</a:t>
            </a:r>
            <a:r>
              <a:rPr lang="en-IN" sz="1700" dirty="0"/>
              <a:t> – Enables students to ask natural language questions and receive intelligent answers directly from their uploaded study resources. </a:t>
            </a:r>
          </a:p>
          <a:p>
            <a:pPr algn="just"/>
            <a:r>
              <a:rPr lang="en-IN" sz="1700" b="1" dirty="0"/>
              <a:t>Automated Exam Preparation</a:t>
            </a:r>
            <a:r>
              <a:rPr lang="en-IN" sz="1700" dirty="0"/>
              <a:t> – Creates summaries, flashcards, MCQs, True/False questions, and important topic lists automatically, reducing manual effort and improving revision efficiency. </a:t>
            </a:r>
          </a:p>
          <a:p>
            <a:pPr algn="just"/>
            <a:r>
              <a:rPr lang="en-IN" sz="1700" b="1" dirty="0"/>
              <a:t>Built with IBM AI Technologies</a:t>
            </a:r>
            <a:r>
              <a:rPr lang="en-IN" sz="1700" dirty="0"/>
              <a:t> – Developed using </a:t>
            </a:r>
            <a:r>
              <a:rPr lang="en-IN" sz="1700" b="1" dirty="0" err="1"/>
              <a:t>LangFlow</a:t>
            </a:r>
            <a:r>
              <a:rPr lang="en-IN" sz="1700" dirty="0"/>
              <a:t>, </a:t>
            </a:r>
            <a:r>
              <a:rPr lang="en-IN" sz="1700" b="1" dirty="0"/>
              <a:t>IBM watsonx.ai</a:t>
            </a:r>
            <a:r>
              <a:rPr lang="en-IN" sz="1700" dirty="0"/>
              <a:t>, and </a:t>
            </a:r>
            <a:r>
              <a:rPr lang="en-IN" sz="1700" b="1" dirty="0"/>
              <a:t>IBM Granite Models</a:t>
            </a:r>
            <a:r>
              <a:rPr lang="en-IN" sz="1700" dirty="0"/>
              <a:t>, providing a scalable, secure, and enterprise-ready AI solution. </a:t>
            </a:r>
          </a:p>
          <a:p>
            <a:pPr algn="just"/>
            <a:r>
              <a:rPr lang="en-IN" sz="1700" b="1" dirty="0"/>
              <a:t>This makes the Smart Study Generator more than just a chatbot—it acts as an intelligent digital study companion that simplifies learning, enhances exam preparation, and delivers a personalized educational experience.</a:t>
            </a:r>
            <a:endParaRPr lang="en-IN" sz="17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a:t>
            </a:r>
            <a:r>
              <a:rPr lang="en-US" sz="180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00" dirty="0">
                <a:solidFill>
                  <a:srgbClr val="2B3541"/>
                </a:solidFill>
                <a:latin typeface="Times New Roman"/>
                <a:ea typeface="Times New Roman"/>
                <a:cs typeface="Times New Roman"/>
                <a:sym typeface="Times New Roman"/>
              </a:rPr>
              <a:t>Please test and Paste the working  </a:t>
            </a:r>
            <a:r>
              <a:rPr lang="en-US" sz="1800" dirty="0" err="1">
                <a:solidFill>
                  <a:srgbClr val="2B3541"/>
                </a:solidFill>
                <a:latin typeface="Times New Roman"/>
                <a:ea typeface="Times New Roman"/>
                <a:cs typeface="Times New Roman"/>
                <a:sym typeface="Times New Roman"/>
              </a:rPr>
              <a:t>Github</a:t>
            </a:r>
            <a:r>
              <a:rPr lang="en-US" sz="180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endParaRPr lang="en-US" sz="1600" dirty="0">
              <a:solidFill>
                <a:srgbClr val="2B3541"/>
              </a:solidFill>
              <a:latin typeface="Times New Roman"/>
              <a:ea typeface="Times New Roman"/>
              <a:cs typeface="Times New Roman"/>
              <a:sym typeface="Times New Roman"/>
            </a:endParaRPr>
          </a:p>
          <a:p>
            <a:pPr lvl="0" algn="ctr">
              <a:lnSpc>
                <a:spcPct val="162162"/>
              </a:lnSpc>
              <a:buClr>
                <a:srgbClr val="2B3541"/>
              </a:buClr>
              <a:buSzPts val="1850"/>
            </a:pPr>
            <a:r>
              <a:rPr lang="en-US" sz="2400" dirty="0">
                <a:solidFill>
                  <a:srgbClr val="2B3541"/>
                </a:solidFill>
                <a:latin typeface="Times New Roman"/>
                <a:ea typeface="Times New Roman"/>
                <a:cs typeface="Times New Roman"/>
                <a:sym typeface="Times New Roman"/>
                <a:hlinkClick r:id="rId3"/>
              </a:rPr>
              <a:t>https://github.com/Pritvyas1510/Smart-Study-Generator-Agent.git</a:t>
            </a:r>
            <a:endParaRPr lang="en-US" sz="24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82752" y="1103255"/>
            <a:ext cx="10884786" cy="4277001"/>
          </a:xfrm>
          <a:prstGeom prst="rect">
            <a:avLst/>
          </a:prstGeom>
          <a:noFill/>
          <a:ln>
            <a:noFill/>
          </a:ln>
        </p:spPr>
        <p:txBody>
          <a:bodyPr spcFirstLastPara="1" wrap="square" lIns="0" tIns="0" rIns="0" bIns="0" anchor="t" anchorCtr="0">
            <a:noAutofit/>
          </a:bodyPr>
          <a:lstStyle/>
          <a:p>
            <a:pPr algn="just"/>
            <a:r>
              <a:rPr lang="en-IN" sz="1230" b="1" dirty="0"/>
              <a:t>1. AI-Powered Voice Learning &amp; Multilingual Support –</a:t>
            </a:r>
          </a:p>
          <a:p>
            <a:pPr algn="just"/>
            <a:r>
              <a:rPr lang="en-IN" sz="1230" dirty="0"/>
              <a:t>The Smart Study Generator can be enhanced with a voice-enabled learning assistant and multilingual capabilities. Students will be able to ask questions using voice commands and receive explanations in their preferred language, making learning more accessible, interactive, and inclusive for users from diverse linguistic backgrounds.</a:t>
            </a:r>
          </a:p>
          <a:p>
            <a:pPr algn="just"/>
            <a:br>
              <a:rPr lang="en-IN" sz="1230" dirty="0"/>
            </a:br>
            <a:endParaRPr lang="en-IN" sz="1230" dirty="0"/>
          </a:p>
          <a:p>
            <a:pPr algn="just"/>
            <a:r>
              <a:rPr lang="en-IN" sz="1230" b="1" dirty="0"/>
              <a:t>2. Intelligent Learning Analytics &amp; Progress Tracking –</a:t>
            </a:r>
          </a:p>
          <a:p>
            <a:pPr algn="just"/>
            <a:r>
              <a:rPr lang="en-IN" sz="1230" dirty="0"/>
              <a:t>Future versions can include a personalized learning dashboard that tracks study progress, identifies weak topics, recommends revision schedules, and predicts exam readiness using AI-driven analytics. This will help students focus on areas that require improvement and optimize their learning journey.</a:t>
            </a:r>
          </a:p>
          <a:p>
            <a:pPr algn="just"/>
            <a:br>
              <a:rPr lang="en-IN" sz="1230" dirty="0"/>
            </a:br>
            <a:endParaRPr lang="en-IN" sz="1230" dirty="0"/>
          </a:p>
          <a:p>
            <a:pPr algn="just"/>
            <a:r>
              <a:rPr lang="en-IN" sz="1230" b="1" dirty="0"/>
              <a:t>3. OCR &amp; Handwritten Notes Recognition –</a:t>
            </a:r>
          </a:p>
          <a:p>
            <a:pPr algn="just"/>
            <a:r>
              <a:rPr lang="en-IN" sz="1230" dirty="0"/>
              <a:t>The system can be extended to support Optical Character Recognition (OCR), enabling students to upload handwritten notes, textbook images, or whiteboard photos. The AI will automatically extract text, generate summaries, flashcards, quizzes, and provide explanations from the extracted content.</a:t>
            </a:r>
          </a:p>
          <a:p>
            <a:pPr algn="just"/>
            <a:br>
              <a:rPr lang="en-IN" sz="1230" dirty="0"/>
            </a:br>
            <a:endParaRPr lang="en-IN" sz="1230" dirty="0"/>
          </a:p>
          <a:p>
            <a:pPr algn="just"/>
            <a:r>
              <a:rPr lang="en-IN" sz="1230" b="1" dirty="0"/>
              <a:t>4. Adaptive Study Planner &amp; Exam Prediction –</a:t>
            </a:r>
          </a:p>
          <a:p>
            <a:pPr algn="just"/>
            <a:r>
              <a:rPr lang="en-IN" sz="1230" dirty="0"/>
              <a:t>The AI agent can </a:t>
            </a:r>
            <a:r>
              <a:rPr lang="en-IN" sz="1230" dirty="0" err="1"/>
              <a:t>analyze</a:t>
            </a:r>
            <a:r>
              <a:rPr lang="en-IN" sz="1230" dirty="0"/>
              <a:t> syllabus coverage, previous study performance, and upcoming examination schedules to generate adaptive study plans. It can also prioritize frequently asked topics and send intelligent reminders to improve exam preparation.</a:t>
            </a:r>
          </a:p>
          <a:p>
            <a:pPr algn="just"/>
            <a:br>
              <a:rPr lang="en-IN" sz="1230" dirty="0"/>
            </a:br>
            <a:endParaRPr lang="en-IN" sz="1230" dirty="0"/>
          </a:p>
          <a:p>
            <a:pPr algn="just"/>
            <a:r>
              <a:rPr lang="en-IN" sz="1230" b="1" dirty="0"/>
              <a:t>5. Mobile Application &amp; Cloud Synchronization –</a:t>
            </a:r>
          </a:p>
          <a:p>
            <a:pPr algn="just"/>
            <a:r>
              <a:rPr lang="en-IN" sz="1230" dirty="0"/>
              <a:t>A mobile application can be developed to allow students to study anytime and anywhere. Cloud synchronization will securely store study materials, AI-generated notes, quizzes, and learning progress across multiple devices.</a:t>
            </a:r>
          </a:p>
          <a:p>
            <a:pPr algn="just"/>
            <a:br>
              <a:rPr lang="en-IN" sz="1230" dirty="0"/>
            </a:br>
            <a:endParaRPr lang="en-IN" sz="1230" dirty="0"/>
          </a:p>
          <a:p>
            <a:pPr algn="just"/>
            <a:r>
              <a:rPr lang="en-IN" sz="1230" b="1" dirty="0"/>
              <a:t>6. Collaborative Learning Platform –</a:t>
            </a:r>
          </a:p>
          <a:p>
            <a:pPr algn="just"/>
            <a:r>
              <a:rPr lang="en-IN" sz="1230" dirty="0"/>
              <a:t>Future enhancements may include collaborative study groups where students can share notes, discuss concepts, solve quizzes together, and receive AI-assisted recommendations, creating a more engaging and interactive learning environment.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F4178886-0C05-3FAB-DD6E-9757E57DDCB9}"/>
              </a:ext>
            </a:extLst>
          </p:cNvPr>
          <p:cNvPicPr>
            <a:picLocks noChangeAspect="1"/>
          </p:cNvPicPr>
          <p:nvPr/>
        </p:nvPicPr>
        <p:blipFill>
          <a:blip r:embed="rId2"/>
          <a:stretch>
            <a:fillRect/>
          </a:stretch>
        </p:blipFill>
        <p:spPr>
          <a:xfrm>
            <a:off x="1712174" y="1367169"/>
            <a:ext cx="6832057" cy="513347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B96F7BD-51F7-43AC-C412-F9362BB765DE}"/>
              </a:ext>
            </a:extLst>
          </p:cNvPr>
          <p:cNvPicPr>
            <a:picLocks noChangeAspect="1"/>
          </p:cNvPicPr>
          <p:nvPr/>
        </p:nvPicPr>
        <p:blipFill>
          <a:blip r:embed="rId2"/>
          <a:stretch>
            <a:fillRect/>
          </a:stretch>
        </p:blipFill>
        <p:spPr>
          <a:xfrm>
            <a:off x="2262640" y="1338515"/>
            <a:ext cx="8020111" cy="496396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1808</Words>
  <Application>Microsoft Office PowerPoint</Application>
  <PresentationFormat>Widescreen</PresentationFormat>
  <Paragraphs>130</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PRIT VYAS</cp:lastModifiedBy>
  <cp:revision>4</cp:revision>
  <dcterms:created xsi:type="dcterms:W3CDTF">2025-07-08T05:06:56Z</dcterms:created>
  <dcterms:modified xsi:type="dcterms:W3CDTF">2026-06-25T17:33:01Z</dcterms:modified>
</cp:coreProperties>
</file>